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82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Naive Bayes</c:v>
                </c:pt>
                <c:pt idx="1">
                  <c:v>Decision Tree</c:v>
                </c:pt>
                <c:pt idx="2">
                  <c:v>AdaBoost</c:v>
                </c:pt>
                <c:pt idx="3">
                  <c:v>Log. Regression</c:v>
                </c:pt>
                <c:pt idx="4">
                  <c:v>KNN (k=5)</c:v>
                </c:pt>
                <c:pt idx="5">
                  <c:v>SVM (RBF)</c:v>
                </c:pt>
                <c:pt idx="6">
                  <c:v>Gradient Boost</c:v>
                </c:pt>
                <c:pt idx="7">
                  <c:v>MLP Neural Net</c:v>
                </c:pt>
                <c:pt idx="8">
                  <c:v>Random Forest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0.56759999999999999</c:v>
                </c:pt>
                <c:pt idx="1">
                  <c:v>0.93010000000000004</c:v>
                </c:pt>
                <c:pt idx="2">
                  <c:v>0.93640000000000001</c:v>
                </c:pt>
                <c:pt idx="3">
                  <c:v>0.94069999999999998</c:v>
                </c:pt>
                <c:pt idx="4">
                  <c:v>0.94530000000000003</c:v>
                </c:pt>
                <c:pt idx="5">
                  <c:v>0.95669999999999999</c:v>
                </c:pt>
                <c:pt idx="6">
                  <c:v>0.95599999999999996</c:v>
                </c:pt>
                <c:pt idx="7">
                  <c:v>0.95750000000000002</c:v>
                </c:pt>
                <c:pt idx="8">
                  <c:v>0.96340000000000003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EA-451D-99D2-0945428B07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E9C46A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Naive Bayes</c:v>
                </c:pt>
                <c:pt idx="1">
                  <c:v>Decision Tree</c:v>
                </c:pt>
                <c:pt idx="2">
                  <c:v>AdaBoost</c:v>
                </c:pt>
                <c:pt idx="3">
                  <c:v>Log. Regression</c:v>
                </c:pt>
                <c:pt idx="4">
                  <c:v>KNN (k=5)</c:v>
                </c:pt>
                <c:pt idx="5">
                  <c:v>SVM (RBF)</c:v>
                </c:pt>
                <c:pt idx="6">
                  <c:v>Gradient Boost</c:v>
                </c:pt>
                <c:pt idx="7">
                  <c:v>MLP Neural Net</c:v>
                </c:pt>
                <c:pt idx="8">
                  <c:v>Random Forest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0.91859999999999997</c:v>
                </c:pt>
                <c:pt idx="1">
                  <c:v>0.93</c:v>
                </c:pt>
                <c:pt idx="2">
                  <c:v>0.9849</c:v>
                </c:pt>
                <c:pt idx="3">
                  <c:v>0.98419999999999996</c:v>
                </c:pt>
                <c:pt idx="4">
                  <c:v>0.97799999999999998</c:v>
                </c:pt>
                <c:pt idx="5">
                  <c:v>0.98960000000000004</c:v>
                </c:pt>
                <c:pt idx="6">
                  <c:v>0.99150000000000005</c:v>
                </c:pt>
                <c:pt idx="7">
                  <c:v>0.99</c:v>
                </c:pt>
                <c:pt idx="8">
                  <c:v>0.99380000000000002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EA-451D-99D2-0945428B07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119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926080" cy="2926080"/>
          </a:xfrm>
          <a:prstGeom prst="ellipse">
            <a:avLst/>
          </a:prstGeom>
          <a:solidFill>
            <a:srgbClr val="0A9396">
              <a:alpha val="18000"/>
            </a:srgbClr>
          </a:solidFill>
          <a:ln w="12700">
            <a:solidFill>
              <a:srgbClr val="0A9396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82880"/>
            <a:ext cx="1645920" cy="1645920"/>
          </a:xfrm>
          <a:prstGeom prst="ellipse">
            <a:avLst/>
          </a:prstGeom>
          <a:solidFill>
            <a:srgbClr val="E9C46A">
              <a:alpha val="25000"/>
            </a:srgbClr>
          </a:solidFill>
          <a:ln w="12700">
            <a:solidFill>
              <a:srgbClr val="E9C46A">
                <a:alpha val="25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144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205740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20040" y="27889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Internship Project — End-to-End Pipeline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0040" y="3273552"/>
            <a:ext cx="5029200" cy="2743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3429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2–8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11,430 URLs  |  99 Features  |  9 Models  |  96.2% Accuracy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 ·  Data Science  ·  MLOps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966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608" y="99669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3624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167335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11,430 URLs explored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features analysed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confirmed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9601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960120"/>
            <a:ext cx="274320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19272" y="9966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99669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13624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37560" y="167335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variance drop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+ RobustScaler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split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9601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960120"/>
            <a:ext cx="274320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91072" y="9966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996696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13624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09360" y="167335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4-method selection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consensus features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new features built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274320" y="29260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4320" y="2926080"/>
            <a:ext cx="274320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47472" y="29626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8608" y="2962656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65760" y="33284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365760" y="363931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algorithms trained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best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0.963  AUC = 0.994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246120" y="29260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46120" y="2926080"/>
            <a:ext cx="274320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319272" y="29626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0408" y="2962656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337560" y="33284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337560" y="363931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 identified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explanations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217920" y="29260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217920" y="2926080"/>
            <a:ext cx="274320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291072" y="29626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2208" y="2962656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309360" y="33284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309360" y="363931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cloud deploy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+ single predict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EXPLORATORY DATA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92024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6984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11,430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6184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URLs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960120"/>
            <a:ext cx="192024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23160" y="960120"/>
            <a:ext cx="192024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06984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23160" y="16184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192024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192024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30428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74320" y="28529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23160" y="2194560"/>
            <a:ext cx="192024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2194560"/>
            <a:ext cx="192024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230428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423160" y="28529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914400"/>
            <a:ext cx="4251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914400"/>
            <a:ext cx="54864" cy="3931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9875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73168" y="1426464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3898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google_index is strongest predictor  |r| = 0.73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73168" y="1801368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17647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page_rank &amp; web_traffic explain 40% of model decisions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73168" y="2176272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213969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zero-variance features identified &amp; removed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73168" y="2551176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25146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URLs are longer, digit-heavy &amp; multi-dotted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73168" y="2926080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8895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links dominate phishing pages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73168" y="3300984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32644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registered domains flagged by domain_age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73168" y="3675888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36393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fails due to correlated feature assumption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 — PREPROCESSING &amp; FEATURE ENGINEERING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118872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914400"/>
            <a:ext cx="118872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11,430 × 89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444752" y="1261872"/>
            <a:ext cx="27432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19072" y="914400"/>
            <a:ext cx="1188720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19072" y="914400"/>
            <a:ext cx="118872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(dedup, clip)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07792" y="1261872"/>
            <a:ext cx="27432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82112" y="914400"/>
            <a:ext cx="1188720" cy="8046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82112" y="914400"/>
            <a:ext cx="118872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(LabelEncoder)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70832" y="1261872"/>
            <a:ext cx="27432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45152" y="914400"/>
            <a:ext cx="1188720" cy="80467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45152" y="914400"/>
            <a:ext cx="118872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(42 features)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33872" y="1261872"/>
            <a:ext cx="27432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08192" y="914400"/>
            <a:ext cx="1188720" cy="8046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08192" y="914400"/>
            <a:ext cx="118872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 features)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96912" y="1261872"/>
            <a:ext cx="27432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71232" y="914400"/>
            <a:ext cx="1188720" cy="8046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71232" y="914400"/>
            <a:ext cx="118872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1938528"/>
            <a:ext cx="41605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1938528"/>
            <a:ext cx="416052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1984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 (4 Methods)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" y="2432304"/>
            <a:ext cx="118872" cy="1188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3957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25968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top_corr: google_index |r|=0.73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4048" y="2953512"/>
            <a:ext cx="118872" cy="1188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29169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MDI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" y="31181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top_rf:   google_index imp=0.170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84048" y="3474720"/>
            <a:ext cx="118872" cy="1188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4381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" y="36393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top_mi:   web_traffic  mi=0.300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4048" y="3995928"/>
            <a:ext cx="118872" cy="1188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9593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 (Logistic Reg.)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4160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features selected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7472" y="4480560"/>
            <a:ext cx="3913632" cy="274320"/>
          </a:xfrm>
          <a:prstGeom prst="rect">
            <a:avLst/>
          </a:prstGeom>
          <a:solidFill>
            <a:srgbClr val="EFF6F7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449884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22 Consensus Features  (≥3 methods agree)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1938528"/>
            <a:ext cx="422452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1938528"/>
            <a:ext cx="4224528" cy="3474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1984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 (18 New)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91456" y="2432304"/>
            <a:ext cx="118872" cy="11887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74336" y="23957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Structure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974336" y="25968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url_complexity, path_depth, url_len_cat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91456" y="2953512"/>
            <a:ext cx="118872" cy="11887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74336" y="29169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Domain/Subdomain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974336" y="31181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domain_obfuscation, deep_subdomain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91456" y="3474720"/>
            <a:ext cx="118872" cy="11887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74336" y="34381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974336" y="36393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hyperlink_diversity, ext_link_dominant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91456" y="3995928"/>
            <a:ext cx="118872" cy="11887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74336" y="39593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974336" y="4160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domain_trust_score, high_page_rank, new_domain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91456" y="4517136"/>
            <a:ext cx="118872" cy="11887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74336" y="44805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54880" y="4480560"/>
            <a:ext cx="3977640" cy="274320"/>
          </a:xfrm>
          <a:prstGeom prst="rect">
            <a:avLst/>
          </a:prstGeom>
          <a:solidFill>
            <a:srgbClr val="FFF5EE"/>
          </a:solidFill>
          <a:ln w="12700">
            <a:solidFill>
              <a:srgbClr val="FFD8C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9744" y="44988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81 + 18 = 99 Final Features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MODEL TRAINING &amp; COMPARISON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56032" y="914400"/>
          <a:ext cx="51206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14400"/>
            <a:ext cx="333756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914400"/>
            <a:ext cx="3337560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0" y="9692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BEST MODEL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23560" y="1389888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623560" y="1874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  |  max_depth=20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0" y="2267712"/>
            <a:ext cx="3035808" cy="347472"/>
          </a:xfrm>
          <a:prstGeom prst="rect">
            <a:avLst/>
          </a:prstGeom>
          <a:solidFill>
            <a:srgbClr val="132237"/>
          </a:solidFill>
          <a:ln w="12700">
            <a:solidFill>
              <a:srgbClr val="1322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79008" y="23225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32320" y="2304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715000" y="2706624"/>
            <a:ext cx="3035808" cy="347472"/>
          </a:xfrm>
          <a:prstGeom prst="rect">
            <a:avLst/>
          </a:prstGeom>
          <a:solidFill>
            <a:srgbClr val="132237"/>
          </a:solidFill>
          <a:ln w="12700">
            <a:solidFill>
              <a:srgbClr val="1322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79008" y="27614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13232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0.963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715000" y="3145536"/>
            <a:ext cx="3035808" cy="347472"/>
          </a:xfrm>
          <a:prstGeom prst="rect">
            <a:avLst/>
          </a:prstGeom>
          <a:solidFill>
            <a:srgbClr val="132237"/>
          </a:solidFill>
          <a:ln w="12700">
            <a:solidFill>
              <a:srgbClr val="1322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79008" y="32004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132320" y="3182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715000" y="3584448"/>
            <a:ext cx="3035808" cy="347472"/>
          </a:xfrm>
          <a:prstGeom prst="rect">
            <a:avLst/>
          </a:prstGeom>
          <a:solidFill>
            <a:srgbClr val="132237"/>
          </a:solidFill>
          <a:ln w="12700">
            <a:solidFill>
              <a:srgbClr val="13223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79008" y="36393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132320" y="3621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0.926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715000" y="4023360"/>
            <a:ext cx="3035808" cy="347472"/>
          </a:xfrm>
          <a:prstGeom prst="rect">
            <a:avLst/>
          </a:prstGeom>
          <a:solidFill>
            <a:srgbClr val="132237"/>
          </a:solidFill>
          <a:ln w="12700">
            <a:solidFill>
              <a:srgbClr val="13223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79008" y="4078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132320" y="4059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3.8%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715000" y="4498848"/>
            <a:ext cx="3035808" cy="237744"/>
          </a:xfrm>
          <a:prstGeom prst="rect">
            <a:avLst/>
          </a:prstGeom>
          <a:solidFill>
            <a:srgbClr val="0A9396">
              <a:alpha val="8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60720" y="45171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F1:  0.965 ± 0.006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— MODEL INTERPRETABILITY (SHAP)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987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FEATURE IMPORTANCE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" y="1243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(* = engineered feature)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92608" y="150876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google_index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49424" y="1545336"/>
            <a:ext cx="3200400" cy="1645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68112" y="15087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17.0%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92608" y="178308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page_rank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49424" y="1819656"/>
            <a:ext cx="1844936" cy="1645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2648" y="1783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9.8%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2608" y="205740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nb_hyperlinks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49424" y="2093976"/>
            <a:ext cx="1355464" cy="1645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3176" y="20574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2608" y="233172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web_traffic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49424" y="2368296"/>
            <a:ext cx="1223682" cy="1645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1394" y="23317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2608" y="260604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nb_www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49424" y="2642616"/>
            <a:ext cx="715384" cy="1645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83096" y="26060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92608" y="288036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ratio_extHyperlinks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49424" y="2916936"/>
            <a:ext cx="527125" cy="1645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94837" y="28803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92608" y="315468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domain_age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49424" y="3191256"/>
            <a:ext cx="470647" cy="1645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38359" y="3154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92608" y="342900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longest_word_path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49424" y="3465576"/>
            <a:ext cx="489473" cy="1645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57185" y="34290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2.6%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92608" y="370332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ratio_intHyperlinks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49424" y="3739896"/>
            <a:ext cx="451821" cy="1645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19533" y="3703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2.4%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92608" y="397764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safe_anchor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49424" y="4014216"/>
            <a:ext cx="414169" cy="1645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81881" y="39776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92608" y="425196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hyperlink_diversity*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49424" y="4288536"/>
            <a:ext cx="357692" cy="1645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25404" y="42519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1.9%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92608" y="452628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high_page_rank*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249424" y="4562856"/>
            <a:ext cx="320040" cy="1645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87752" y="45262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1.7%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617720" y="91440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17720" y="914400"/>
            <a:ext cx="54864" cy="12344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81728" y="987552"/>
            <a:ext cx="365760" cy="3657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1014984"/>
            <a:ext cx="274320" cy="27432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512064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google_index dominates (17%)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4736592" y="1389888"/>
            <a:ext cx="40050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pages are almost never indexed by search engines — they're created and taken down within days. A missing index instantly raises the phishing probability to near-1.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4617720" y="2267712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4617720" y="2267712"/>
            <a:ext cx="54864" cy="1234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681728" y="2340864"/>
            <a:ext cx="365760" cy="3657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5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368296"/>
            <a:ext cx="274320" cy="274320"/>
          </a:xfrm>
          <a:prstGeom prst="rect">
            <a:avLst/>
          </a:prstGeom>
        </p:spPr>
      </p:pic>
      <p:sp>
        <p:nvSpPr>
          <p:cNvPr id="53" name="Text 49"/>
          <p:cNvSpPr/>
          <p:nvPr/>
        </p:nvSpPr>
        <p:spPr>
          <a:xfrm>
            <a:off x="5120640" y="2359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phishing signatures</a:t>
            </a:r>
            <a:endParaRPr lang="en-US" sz="1050" dirty="0"/>
          </a:p>
        </p:txBody>
      </p:sp>
      <p:sp>
        <p:nvSpPr>
          <p:cNvPr id="54" name="Text 50"/>
          <p:cNvSpPr/>
          <p:nvPr/>
        </p:nvSpPr>
        <p:spPr>
          <a:xfrm>
            <a:off x="4736592" y="2743200"/>
            <a:ext cx="40050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nb_hyperlinks + low page_rank + low domain_age together account for &gt;50% of decisions. Phishing pages load with hundreds of links, freshly registered domains, and no web history.</a:t>
            </a:r>
            <a:endParaRPr lang="en-US" sz="950" dirty="0"/>
          </a:p>
        </p:txBody>
      </p:sp>
      <p:sp>
        <p:nvSpPr>
          <p:cNvPr id="55" name="Shape 51"/>
          <p:cNvSpPr/>
          <p:nvPr/>
        </p:nvSpPr>
        <p:spPr>
          <a:xfrm>
            <a:off x="4617720" y="3621024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Shape 52"/>
          <p:cNvSpPr/>
          <p:nvPr/>
        </p:nvSpPr>
        <p:spPr>
          <a:xfrm>
            <a:off x="4617720" y="3621024"/>
            <a:ext cx="54864" cy="12344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4681728" y="3694176"/>
            <a:ext cx="365760" cy="36576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pic>
        <p:nvPicPr>
          <p:cNvPr id="5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3721608"/>
            <a:ext cx="274320" cy="274320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5120640" y="37124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added 8% value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736592" y="4096512"/>
            <a:ext cx="40050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hyperlink_diversity, high_page_rank, domain_trust_score (Week 4 features) appear in top 25, confirming domain-knowledge engineering produced real signal.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— DEPLOYMENT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920240"/>
            <a:ext cx="164592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99339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3408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 / Tool)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377440" y="1920240"/>
            <a:ext cx="1645920" cy="749808"/>
          </a:xfrm>
          <a:prstGeom prst="rect">
            <a:avLst/>
          </a:prstGeom>
          <a:solidFill>
            <a:srgbClr val="5E548E"/>
          </a:solidFill>
          <a:ln w="12700">
            <a:solidFill>
              <a:srgbClr val="5E54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808" y="1993392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377440" y="23408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480560" y="1920240"/>
            <a:ext cx="1645920" cy="749808"/>
          </a:xfrm>
          <a:prstGeom prst="rect">
            <a:avLst/>
          </a:prstGeom>
          <a:solidFill>
            <a:srgbClr val="2B4590"/>
          </a:solidFill>
          <a:ln w="12700">
            <a:solidFill>
              <a:srgbClr val="2B45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8928" y="1993392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80560" y="23408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Workers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6583680" y="1920240"/>
            <a:ext cx="1645920" cy="7498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2048" y="1993392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83680" y="23408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1920240" y="2249424"/>
            <a:ext cx="457200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023360" y="2249424"/>
            <a:ext cx="457200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126480" y="2249424"/>
            <a:ext cx="457200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120640" y="3017520"/>
            <a:ext cx="2377440" cy="548640"/>
          </a:xfrm>
          <a:prstGeom prst="rect">
            <a:avLst/>
          </a:prstGeom>
          <a:solidFill>
            <a:srgbClr val="132237"/>
          </a:solidFill>
          <a:ln w="19050">
            <a:solidFill>
              <a:srgbClr val="0A9396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166360" y="30906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model.pkl  (RF 200 trees, 99 features)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6446520" y="2670048"/>
            <a:ext cx="54864" cy="3474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256032" y="3749040"/>
            <a:ext cx="8631936" cy="1188720"/>
          </a:xfrm>
          <a:prstGeom prst="rect">
            <a:avLst/>
          </a:prstGeom>
          <a:solidFill>
            <a:srgbClr val="132237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84048" y="38039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84048" y="41330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2414016" y="4133088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URL prediction + SHAP attribution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384048" y="43708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/predict/batch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2414016" y="4370832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up to 100 records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384048" y="46085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/health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2414016" y="460857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health check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4700016" y="41330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/model/info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6729984" y="4133088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features, confusion matrix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700016" y="43708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/features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6729984" y="4370832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99 feature importances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 EXPERIENCES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6012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60120"/>
            <a:ext cx="416052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" y="1124712"/>
            <a:ext cx="420624" cy="42062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5214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143000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Explosion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3192" y="1581912"/>
            <a:ext cx="38770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88 features required careful selection. Learned to apply 4 independent methods (Correlation, RF MDI, MI, RFE) and take consensus to avoid method-specific bias.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96012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960120"/>
            <a:ext cx="416052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1124712"/>
            <a:ext cx="420624" cy="420624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15214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21808" y="1143000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&amp; Outliers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00600" y="1581912"/>
            <a:ext cx="38770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length features had skewness &gt;8. Discovered log1p handles zero-containing features gracefully; RobustScaler preserved meaningful extremes that MinMaxScaler would have distorted.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56032" y="288036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56032" y="2880360"/>
            <a:ext cx="4160520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93192" y="3044952"/>
            <a:ext cx="420624" cy="42062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72384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4400" y="3063240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Failure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93192" y="3502152"/>
            <a:ext cx="38770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achieved only 40% recall despite 92% precision — a critical lesson on the independence assumption. Correlated reputation features (google_index, page_rank, web_traffic) violated it completely.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663440" y="288036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63440" y="2880360"/>
            <a:ext cx="4160520" cy="54864"/>
          </a:xfrm>
          <a:prstGeom prst="rect">
            <a:avLst/>
          </a:prstGeom>
          <a:solidFill>
            <a:srgbClr val="5E548E"/>
          </a:solidFill>
          <a:ln w="12700">
            <a:solidFill>
              <a:srgbClr val="5E548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00600" y="3044952"/>
            <a:ext cx="420624" cy="420624"/>
          </a:xfrm>
          <a:prstGeom prst="ellipse">
            <a:avLst/>
          </a:prstGeom>
          <a:solidFill>
            <a:srgbClr val="5E548E"/>
          </a:solidFill>
          <a:ln w="12700">
            <a:solidFill>
              <a:srgbClr val="5E548E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072384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21808" y="3063240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Complexity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800600" y="3502152"/>
            <a:ext cx="38770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Serialising a 200-tree forest with 99 features produced a 17MB pkl file. Learned to load it once at Gunicorn startup (not per request) and cache in memory to avoid cold-start latency.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987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Random Forest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" y="12435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 set  n = 2,286)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14081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Legit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468880" y="14081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Phish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Legit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30449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Phish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05840" y="1572768"/>
            <a:ext cx="1371600" cy="1005840"/>
          </a:xfrm>
          <a:prstGeom prst="rect">
            <a:avLst/>
          </a:prstGeom>
          <a:solidFill>
            <a:srgbClr val="DCFCE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68249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05840" y="2231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14600" y="1572768"/>
            <a:ext cx="137160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68249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14600" y="2231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05840" y="2697480"/>
            <a:ext cx="137160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80720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05840" y="3355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14600" y="2697480"/>
            <a:ext cx="1371600" cy="1005840"/>
          </a:xfrm>
          <a:prstGeom prst="rect">
            <a:avLst/>
          </a:prstGeom>
          <a:solidFill>
            <a:srgbClr val="DCFCE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280720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514600" y="3355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3794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= 4.1%   (47 legitimate sites blocked)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7472" y="4069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FNR = 3.8%   (43 phishing sites missed)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472" y="4407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= 96.2%  |  F1 = 0.963  |  AUC = 0.994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914400"/>
            <a:ext cx="44348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0" y="987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— F1 &amp; AUC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98448"/>
          <a:ext cx="4251960" cy="347472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Neural 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FEEDBACK &amp; REFINEMENTS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32688"/>
            <a:ext cx="863193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32688"/>
            <a:ext cx="475488" cy="7132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13385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987552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Use multiple feature selection methods, not just correlation.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7909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Applied 4 methods (Correlation, RF MDI, Mutual Information, RFE). Used consensus of ≥3 methods to select 22 core features — reducing method-specific bias.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737360"/>
            <a:ext cx="863193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737360"/>
            <a:ext cx="475488" cy="7132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93852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1792224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Explain why models succeed or fail, not just report scores.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2084832"/>
            <a:ext cx="7909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Added SHAP global + local analysis. Documented why Naive Bayes fails (independence assumption) and why RF succeeds (heterogeneous mixed-type features).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2542032"/>
            <a:ext cx="863193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542032"/>
            <a:ext cx="475488" cy="7132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74320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2596896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Engineer features from domain knowledge, not just the raw dataset.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" y="2889504"/>
            <a:ext cx="7909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Created 18 new features across 6 categories (URL structure, subdomain, hyperlinks, tokens, trust). 6 of these appear in top-25 feature importances.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3346704"/>
            <a:ext cx="863193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3346704"/>
            <a:ext cx="475488" cy="7132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54787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3401568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Deployment must be reproducible — not just a Jupyter notebook.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" y="3694176"/>
            <a:ext cx="7909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Delivered a Flask REST API with 5 endpoints, Render-ready with gunicorn, environment variables, render.yaml, and full step-by-step deployment guide.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4151376"/>
            <a:ext cx="863193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4151376"/>
            <a:ext cx="475488" cy="7132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435254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4206240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Report False Negative Rate separately — it is the critical error in security.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2960" y="4498848"/>
            <a:ext cx="7909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FNR explicitly tracked across all 9 models. Tuned RF prioritised higher recall (FNR=3.4%) over precision, reducing missed phishing by 4 instances vs default.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3200400"/>
            <a:ext cx="4572000" cy="4572000"/>
          </a:xfrm>
          <a:prstGeom prst="ellipse">
            <a:avLst/>
          </a:prstGeom>
          <a:solidFill>
            <a:srgbClr val="0A9396">
              <a:alpha val="12000"/>
            </a:srgbClr>
          </a:solidFill>
          <a:ln w="12700">
            <a:solidFill>
              <a:srgbClr val="0A939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E9C46A">
              <a:alpha val="10000"/>
            </a:srgbClr>
          </a:solidFill>
          <a:ln w="12700">
            <a:solidFill>
              <a:srgbClr val="E9C46A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858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7498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CONCLUSIONS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572768"/>
            <a:ext cx="1920240" cy="914400"/>
          </a:xfrm>
          <a:prstGeom prst="rect">
            <a:avLst/>
          </a:prstGeom>
          <a:solidFill>
            <a:srgbClr val="132237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6642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65760" y="21579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78608" y="1572768"/>
            <a:ext cx="1920240" cy="914400"/>
          </a:xfrm>
          <a:prstGeom prst="rect">
            <a:avLst/>
          </a:prstGeom>
          <a:solidFill>
            <a:srgbClr val="132237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78608" y="16642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578608" y="21579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Score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2651760"/>
            <a:ext cx="1920240" cy="914400"/>
          </a:xfrm>
          <a:prstGeom prst="rect">
            <a:avLst/>
          </a:prstGeom>
          <a:solidFill>
            <a:srgbClr val="132237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365760" y="3236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Rate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578608" y="2651760"/>
            <a:ext cx="1920240" cy="914400"/>
          </a:xfrm>
          <a:prstGeom prst="rect">
            <a:avLst/>
          </a:prstGeom>
          <a:solidFill>
            <a:srgbClr val="132237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78608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2578608" y="3236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09160" y="1463040"/>
            <a:ext cx="4160520" cy="3438144"/>
          </a:xfrm>
          <a:prstGeom prst="rect">
            <a:avLst/>
          </a:prstGeom>
          <a:solidFill>
            <a:srgbClr val="132237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28032" y="15544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28032" y="1975104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10912" y="1938528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from raw data to deployed API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828032" y="2414016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10912" y="2377440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feature selection beats any single method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828032" y="2852928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10912" y="2816352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Domain-knowledge engineering adds 8% model importance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828032" y="3291840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10912" y="3255264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best balances accuracy &amp; interpretability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828032" y="3730752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10912" y="3694176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FNR is the security-critical metric — minimise missed phishing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828032" y="4169664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10912" y="4133088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explains every prediction for analyst review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0" y="4901184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Detection  ·  Machine Learning Internship  ·  Weeks 2–8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1244</Words>
  <Application>Microsoft Office PowerPoint</Application>
  <PresentationFormat>On-screen Show (16:9)</PresentationFormat>
  <Paragraphs>257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URL Detection - Internship Project</dc:title>
  <dc:subject>PptxGenJS Presentation</dc:subject>
  <dc:creator>Intern</dc:creator>
  <cp:lastModifiedBy>Rushik Kokate</cp:lastModifiedBy>
  <cp:revision>2</cp:revision>
  <dcterms:created xsi:type="dcterms:W3CDTF">2026-04-14T09:10:32Z</dcterms:created>
  <dcterms:modified xsi:type="dcterms:W3CDTF">2026-04-14T09:20:03Z</dcterms:modified>
</cp:coreProperties>
</file>